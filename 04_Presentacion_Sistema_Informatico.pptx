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100584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TechOficina S.L.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8745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85C1E9"/>
                </a:solidFill>
                <a:latin typeface="Calibri"/>
                <a:ea typeface="Calibri"/>
                <a:cs typeface="Calibri"/>
                <a:sym typeface="Calibri"/>
              </a:rPr>
              <a:t>Servicios Informáticos para Pequeñas Empresas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457200" y="2377440"/>
            <a:ext cx="6858000" cy="0"/>
          </a:xfrm>
          <a:prstGeom prst="straightConnector1">
            <a:avLst/>
          </a:prstGeom>
          <a:noFill/>
          <a:ln cap="flat" cmpd="sng" w="254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457200" y="2560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Sistema Informático de la Empresa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0175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B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E9BAA"/>
                </a:solidFill>
                <a:latin typeface="Calibri"/>
                <a:ea typeface="Calibri"/>
                <a:cs typeface="Calibri"/>
                <a:sym typeface="Calibri"/>
              </a:rPr>
              <a:t>Módulo: Aplicaciones Ofimáticas (0223)  ·  1.º SMR  ·  Curso 2025–2026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4114800"/>
            <a:ext cx="1828800" cy="365760"/>
          </a:xfrm>
          <a:prstGeom prst="roundRect">
            <a:avLst>
              <a:gd fmla="val 12500" name="adj"/>
            </a:avLst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 Intermodular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468880" y="4114800"/>
            <a:ext cx="1828800" cy="365760"/>
          </a:xfrm>
          <a:prstGeom prst="roundRect">
            <a:avLst>
              <a:gd fmla="val 12500" name="adj"/>
            </a:avLst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46888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1.º SMR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480560" y="4114800"/>
            <a:ext cx="1828800" cy="365760"/>
          </a:xfrm>
          <a:prstGeom prst="roundRect">
            <a:avLst>
              <a:gd fmla="val 12500" name="adj"/>
            </a:avLst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48056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2025–2026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12064" y="1371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¿Qué es TechOficina S.L.?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822960"/>
            <a:ext cx="4114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Empresa de servicios TIC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orientada a pequeños negocios del entorno local que no disponen de departamento informático propio.</a:t>
            </a:r>
            <a:b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Fundada en 2022 en Madrid, ofrece soluciones de soporte cercanas, rápidas y asequibles.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99975" y="900735"/>
            <a:ext cx="1481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37135" y="992175"/>
            <a:ext cx="120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Instalación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37135" y="1284783"/>
            <a:ext cx="1206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Equipos, periféricos y software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399975" y="900735"/>
            <a:ext cx="1481400" cy="639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991031" y="900735"/>
            <a:ext cx="1481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128191" y="992175"/>
            <a:ext cx="120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Mantenimiento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128191" y="1284783"/>
            <a:ext cx="1206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Preventivo y correctivo de hardware/software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991031" y="900735"/>
            <a:ext cx="1481400" cy="639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582087" y="900735"/>
            <a:ext cx="1481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719247" y="992175"/>
            <a:ext cx="120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Redes 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719247" y="1284783"/>
            <a:ext cx="1206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Diseño, cableado y administración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582087" y="900735"/>
            <a:ext cx="1481400" cy="639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399975" y="1815135"/>
            <a:ext cx="1481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537135" y="1906575"/>
            <a:ext cx="120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Soporte remoto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37135" y="2199183"/>
            <a:ext cx="1206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Asistencia TeamViewer a 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399975" y="1815135"/>
            <a:ext cx="1481400" cy="639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991031" y="1815135"/>
            <a:ext cx="1481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128191" y="1906575"/>
            <a:ext cx="120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Formación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128191" y="2199183"/>
            <a:ext cx="1206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Ofimática para usuarios finales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991031" y="1815135"/>
            <a:ext cx="1481400" cy="639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582087" y="1815135"/>
            <a:ext cx="1481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719247" y="1906575"/>
            <a:ext cx="120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719247" y="2199183"/>
            <a:ext cx="1206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Antivirus, backups y firewall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582087" y="1815135"/>
            <a:ext cx="1481400" cy="639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65760" y="2834640"/>
            <a:ext cx="128016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65760" y="290779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65760" y="336499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C1E9"/>
                </a:solidFill>
                <a:latin typeface="Calibri"/>
                <a:ea typeface="Calibri"/>
                <a:cs typeface="Calibri"/>
                <a:sym typeface="Calibri"/>
              </a:rPr>
              <a:t>empleados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783080" y="2834640"/>
            <a:ext cx="128016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1783080" y="290779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783080" y="336499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C1E9"/>
                </a:solidFill>
                <a:latin typeface="Calibri"/>
                <a:ea typeface="Calibri"/>
                <a:cs typeface="Calibri"/>
                <a:sym typeface="Calibri"/>
              </a:rPr>
              <a:t>fundación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200400" y="2834640"/>
            <a:ext cx="128016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200400" y="2907792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Madrid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200400" y="336499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C1E9"/>
                </a:solidFill>
                <a:latin typeface="Calibri"/>
                <a:ea typeface="Calibri"/>
                <a:cs typeface="Calibri"/>
                <a:sym typeface="Calibri"/>
              </a:rPr>
              <a:t>ubicación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65760" y="3931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B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E9BAA"/>
                </a:solidFill>
                <a:latin typeface="Calibri"/>
                <a:ea typeface="Calibri"/>
                <a:cs typeface="Calibri"/>
                <a:sym typeface="Calibri"/>
              </a:rPr>
              <a:t>Misión: proporcionar soporte TIC profesional y accesible a pequeños negocios locales.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12064" y="1371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Equipos Informáticos Principales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20040" y="822960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20040" y="822960"/>
            <a:ext cx="109728" cy="12344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02920" y="9144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4 Ordenadores sobremesa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02920" y="123444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HP ProDesk 400 G7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Intel Core i5 · 8 GB RAM · SSD 256 GB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Windows 10/11 Pro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218688" y="822960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3218688" y="822960"/>
            <a:ext cx="109728" cy="123444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3401568" y="9144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2 Portátiles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401568" y="123444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Lenovo ThinkPad E15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Para trabajo externo y visitas a clientes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Windows 11 Pro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117336" y="822960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117336" y="822960"/>
            <a:ext cx="109728" cy="123444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300216" y="9144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3483"/>
                </a:solidFill>
                <a:latin typeface="Calibri"/>
                <a:ea typeface="Calibri"/>
                <a:cs typeface="Calibri"/>
                <a:sym typeface="Calibri"/>
              </a:rPr>
              <a:t>Servidor / 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00216" y="123444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Synology DS923+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Almacenamiento centralizado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DSM 7 · Active Directory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20040" y="2221992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20040" y="2221992"/>
            <a:ext cx="109728" cy="1234440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02920" y="231343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Equipos de 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02920" y="2633472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Router Mikrotik hEX 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Switch TP-Link 16 puertos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Fibra 600 Mbps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218688" y="2221992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3218688" y="2221992"/>
            <a:ext cx="109728" cy="1234440"/>
          </a:xfrm>
          <a:prstGeom prst="rect">
            <a:avLst/>
          </a:prstGeom>
          <a:solidFill>
            <a:srgbClr val="784212"/>
          </a:solidFill>
          <a:ln cap="flat" cmpd="sng" w="12700">
            <a:solidFill>
              <a:srgbClr val="7842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3401568" y="231343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42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Impresora MFP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401568" y="2633472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HP LaserJet M428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Impresión · Escáner · Copia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Conectada en 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117336" y="2221992"/>
            <a:ext cx="27432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117336" y="2221992"/>
            <a:ext cx="109728" cy="123444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6300216" y="231343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SAI / 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300216" y="2633472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APC Back-UPS 600 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Protección ante cortes eléctricos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Cubre servidor y 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512064" y="1371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Red de la Empresa (LAN)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74320" y="1463040"/>
            <a:ext cx="1371600" cy="822960"/>
          </a:xfrm>
          <a:prstGeom prst="ellipse">
            <a:avLst/>
          </a:prstGeom>
          <a:solidFill>
            <a:srgbClr val="85C1E9"/>
          </a:solidFill>
          <a:ln cap="flat" cmpd="sng" w="254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274320" y="146304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600 Mbps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6"/>
          <p:cNvCxnSpPr/>
          <p:nvPr/>
        </p:nvCxnSpPr>
        <p:spPr>
          <a:xfrm>
            <a:off x="1691640" y="187452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6"/>
          <p:cNvSpPr/>
          <p:nvPr/>
        </p:nvSpPr>
        <p:spPr>
          <a:xfrm>
            <a:off x="2468880" y="1463040"/>
            <a:ext cx="1463040" cy="82296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468880" y="1463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Mikrotik hEX 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Firewall + DHCP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3977640" y="187452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4754880" y="1463040"/>
            <a:ext cx="1463040" cy="822960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0E665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754880" y="146304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TP-Link 16p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VLAN habilitado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2788920" y="2286000"/>
            <a:ext cx="0" cy="640080"/>
          </a:xfrm>
          <a:prstGeom prst="straightConnector1">
            <a:avLst/>
          </a:prstGeom>
          <a:noFill/>
          <a:ln cap="flat" cmpd="sng" w="1905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6"/>
          <p:cNvSpPr/>
          <p:nvPr/>
        </p:nvSpPr>
        <p:spPr>
          <a:xfrm>
            <a:off x="2286000" y="2926080"/>
            <a:ext cx="1097280" cy="6858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2286000" y="292608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 flipH="1">
            <a:off x="4251900" y="1897675"/>
            <a:ext cx="78300" cy="1028400"/>
          </a:xfrm>
          <a:prstGeom prst="straightConnector1">
            <a:avLst/>
          </a:prstGeom>
          <a:noFill/>
          <a:ln cap="flat" cmpd="sng" w="1905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6"/>
          <p:cNvSpPr/>
          <p:nvPr/>
        </p:nvSpPr>
        <p:spPr>
          <a:xfrm>
            <a:off x="3749040" y="2926080"/>
            <a:ext cx="1097280" cy="68580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749040" y="292608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Portátiles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5715000" y="2286000"/>
            <a:ext cx="0" cy="640080"/>
          </a:xfrm>
          <a:prstGeom prst="straightConnector1">
            <a:avLst/>
          </a:prstGeom>
          <a:noFill/>
          <a:ln cap="flat" cmpd="sng" w="1905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6"/>
          <p:cNvSpPr/>
          <p:nvPr/>
        </p:nvSpPr>
        <p:spPr>
          <a:xfrm>
            <a:off x="5212080" y="2926080"/>
            <a:ext cx="1097280" cy="68580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212080" y="292608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6"/>
          <p:cNvCxnSpPr>
            <a:stCxn id="122" idx="3"/>
          </p:cNvCxnSpPr>
          <p:nvPr/>
        </p:nvCxnSpPr>
        <p:spPr>
          <a:xfrm>
            <a:off x="6217920" y="1874520"/>
            <a:ext cx="960000" cy="1051500"/>
          </a:xfrm>
          <a:prstGeom prst="straightConnector1">
            <a:avLst/>
          </a:prstGeom>
          <a:noFill/>
          <a:ln cap="flat" cmpd="sng" w="19050">
            <a:solidFill>
              <a:srgbClr val="78421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6"/>
          <p:cNvSpPr/>
          <p:nvPr/>
        </p:nvSpPr>
        <p:spPr>
          <a:xfrm>
            <a:off x="6675120" y="2926080"/>
            <a:ext cx="1097280" cy="685800"/>
          </a:xfrm>
          <a:prstGeom prst="rect">
            <a:avLst/>
          </a:prstGeom>
          <a:solidFill>
            <a:srgbClr val="784212"/>
          </a:solidFill>
          <a:ln cap="flat" cmpd="sng" w="12700">
            <a:solidFill>
              <a:srgbClr val="78421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675120" y="2926080"/>
            <a:ext cx="1097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Impresora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MFP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6"/>
          <p:cNvCxnSpPr>
            <a:stCxn id="122" idx="0"/>
            <a:endCxn id="136" idx="2"/>
          </p:cNvCxnSpPr>
          <p:nvPr/>
        </p:nvCxnSpPr>
        <p:spPr>
          <a:xfrm rot="10800000">
            <a:off x="5486400" y="996840"/>
            <a:ext cx="0" cy="466200"/>
          </a:xfrm>
          <a:prstGeom prst="straightConnector1">
            <a:avLst/>
          </a:prstGeom>
          <a:noFill/>
          <a:ln cap="flat" cmpd="sng" w="1905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6"/>
          <p:cNvSpPr/>
          <p:nvPr/>
        </p:nvSpPr>
        <p:spPr>
          <a:xfrm>
            <a:off x="5029190" y="539495"/>
            <a:ext cx="914400" cy="457200"/>
          </a:xfrm>
          <a:prstGeom prst="ellipse">
            <a:avLst/>
          </a:prstGeom>
          <a:solidFill>
            <a:srgbClr val="1ABC9C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029190" y="539495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Wi-F</a:t>
            </a: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WPA3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20040" y="3931920"/>
            <a:ext cx="201168" cy="164592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594360" y="390448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VLAN Puestos trabajo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20040" y="4206240"/>
            <a:ext cx="201168" cy="164592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94360" y="417880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VLAN Gestión (switch/servidor)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20040" y="4480560"/>
            <a:ext cx="201168" cy="164592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94360" y="44531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Acceso Wi-Fi (móviles autorizados)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12064" y="1371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Sistema Operativo y Software Utilizado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57200" y="868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Operativo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20040" y="1188720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48056" y="12070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Windows 11 Pro (equipos principales)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20040" y="1481328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48056" y="149961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Windows 10 Pro (equipos pendientes migración)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20040" y="1773936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48056" y="17922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DSM 7 / Linux (servidor NAS Synology)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0040" y="2157984"/>
            <a:ext cx="4114800" cy="3200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57200" y="215798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20040" y="2478024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48056" y="24963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ESET Endpoint Security (antivirus en red)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20040" y="2770632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48056" y="27889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Firewall Mikrotik RouterOS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20040" y="3063240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48056" y="30815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Copias de seguridad automáticas en NAS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Ofimática y comunicación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663440" y="1188720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791456" y="12070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Microsoft 365 Business (Word, Excel, Teams, etc.)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663440" y="1481328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791456" y="149961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Correo corporativo con Outlook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663440" y="1773936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791456" y="179222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SharePoint para documentos compartidos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663440" y="2157984"/>
            <a:ext cx="4114800" cy="3200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800600" y="215798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 técnicas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663440" y="2478024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791456" y="24963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TeamViewer (soporte remoto a clientes)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663440" y="2770632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791456" y="27889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Wireshark y Nmap (análisis de red)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663440" y="3063240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791456" y="30815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VirtualBox (virtualización para pruebas)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663440" y="3355848"/>
            <a:ext cx="54864" cy="2743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791456" y="337413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GestTicket (gestión de incidencias, app propia)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365760" y="164592"/>
            <a:ext cx="64008" cy="50292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12064" y="1371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Ventajas de la Solución Propuesta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20040" y="82296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20040" y="822960"/>
            <a:ext cx="2743200" cy="64008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29768" y="9326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Centralización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29768" y="1234440"/>
            <a:ext cx="25420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Toda la información en el servidor NAS. Acceso seguro desde cualquier puesto de la red.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18688" y="82296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3218688" y="822960"/>
            <a:ext cx="2743200" cy="6400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3328416" y="9326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C3483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328416" y="1234440"/>
            <a:ext cx="25420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Antivirus, firewall y copias automáticas protegen los datos de la empresa y sus clientes.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117336" y="822960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117336" y="822960"/>
            <a:ext cx="2743200" cy="6400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227064" y="9326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Eficiencia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227064" y="1234440"/>
            <a:ext cx="25420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El soporte remoto permite resolver incidencias sin desplazamiento, ahorrando tiempo y coste.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0040" y="2084832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20040" y="2084832"/>
            <a:ext cx="2743200" cy="64008"/>
          </a:xfrm>
          <a:prstGeom prst="rect">
            <a:avLst/>
          </a:prstGeom>
          <a:solidFill>
            <a:srgbClr val="117A65"/>
          </a:solidFill>
          <a:ln cap="flat" cmpd="sng" w="12700">
            <a:solidFill>
              <a:srgbClr val="117A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29768" y="21945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7A65"/>
                </a:solidFill>
                <a:latin typeface="Calibri"/>
                <a:ea typeface="Calibri"/>
                <a:cs typeface="Calibri"/>
                <a:sym typeface="Calibri"/>
              </a:rPr>
              <a:t>Red fiable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29768" y="2496312"/>
            <a:ext cx="25420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Topología en estrella con VLANs segmentadas. Wi-Fi protegido con WPA3 solo para dispositivos autorizados.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218688" y="2084832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3218688" y="2084832"/>
            <a:ext cx="2743200" cy="64008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3328416" y="21945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328416" y="2496312"/>
            <a:ext cx="25420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Microsoft Teams integra chat, videollamadas y archivos compartidos entre todo el equipo.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117336" y="2084832"/>
            <a:ext cx="27432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117336" y="2084832"/>
            <a:ext cx="2743200" cy="64008"/>
          </a:xfrm>
          <a:prstGeom prst="rect">
            <a:avLst/>
          </a:prstGeom>
          <a:solidFill>
            <a:srgbClr val="784212"/>
          </a:solidFill>
          <a:ln cap="flat" cmpd="sng" w="12700">
            <a:solidFill>
              <a:srgbClr val="7842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227064" y="21945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42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227064" y="2496312"/>
            <a:ext cx="25420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El sistema puede crecer fácilmente añadiendo más equipos o servicios sin cambiar la infraestructura base.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ABC9C"/>
          </a:solidFill>
          <a:ln cap="flat" cmpd="sng" w="127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57200" y="10058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TechOficina S.L.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9"/>
          <p:cNvCxnSpPr/>
          <p:nvPr/>
        </p:nvCxnSpPr>
        <p:spPr>
          <a:xfrm>
            <a:off x="457200" y="1828800"/>
            <a:ext cx="6858000" cy="0"/>
          </a:xfrm>
          <a:prstGeom prst="straightConnector1">
            <a:avLst/>
          </a:prstGeom>
          <a:noFill/>
          <a:ln cap="flat" cmpd="sng" w="254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9"/>
          <p:cNvSpPr/>
          <p:nvPr/>
        </p:nvSpPr>
        <p:spPr>
          <a:xfrm>
            <a:off x="457200" y="20116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Infraestructura sencilla, eficiente y segura al alcance de cualquier pequeña empresa.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57200" y="2880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C1E9"/>
                </a:solidFill>
                <a:latin typeface="Calibri"/>
                <a:ea typeface="Calibri"/>
                <a:cs typeface="Calibri"/>
                <a:sym typeface="Calibri"/>
              </a:rPr>
              <a:t>📍  Calle Mayor 14, 2.º A — 28013 Madrid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57200" y="32278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C1E9"/>
                </a:solidFill>
                <a:latin typeface="Calibri"/>
                <a:ea typeface="Calibri"/>
                <a:cs typeface="Calibri"/>
                <a:sym typeface="Calibri"/>
              </a:rPr>
              <a:t>📞  91 234 56 78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57200" y="357530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C1E9"/>
                </a:solidFill>
                <a:latin typeface="Calibri"/>
                <a:ea typeface="Calibri"/>
                <a:cs typeface="Calibri"/>
                <a:sym typeface="Calibri"/>
              </a:rPr>
              <a:t>✉️   info@techooficina.es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57200" y="470916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BA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E9BAA"/>
                </a:solidFill>
                <a:latin typeface="Calibri"/>
                <a:ea typeface="Calibri"/>
                <a:cs typeface="Calibri"/>
                <a:sym typeface="Calibri"/>
              </a:rPr>
              <a:t>Módulo 0223 · 1.º SMR · Proyecto Intermodular · Curso 2025–2026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